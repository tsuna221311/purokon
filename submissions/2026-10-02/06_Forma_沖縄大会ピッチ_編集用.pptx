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37a186900845a4" /><Relationship Type="http://schemas.openxmlformats.org/officeDocument/2006/relationships/extended-properties" Target="/docProps/app.xml" Id="Rf58c7c9dee604b4f" /><Relationship Type="http://schemas.openxmlformats.org/officeDocument/2006/relationships/officeDocument" Target="/ppt/presentation.xml" Id="R688aa9e98b8146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b74419dfa446df"/>
  </p:sldMasterIdLst>
  <p:notesMasterIdLst>
    <p:notesMasterId xmlns:r="http://schemas.openxmlformats.org/officeDocument/2006/relationships" r:id="R6010ed0808dc4953"/>
  </p:notesMasterIdLst>
  <p:sldIdLst>
    <p:sldId xmlns:r="http://schemas.openxmlformats.org/officeDocument/2006/relationships" id="256" r:id="R0be301129f1841a3"/>
    <p:sldId xmlns:r="http://schemas.openxmlformats.org/officeDocument/2006/relationships" id="257" r:id="R2408dccdc2584bd6"/>
    <p:sldId xmlns:r="http://schemas.openxmlformats.org/officeDocument/2006/relationships" id="258" r:id="Rb160de04f2704786"/>
    <p:sldId xmlns:r="http://schemas.openxmlformats.org/officeDocument/2006/relationships" id="259" r:id="R0603a0b1c6524597"/>
    <p:sldId xmlns:r="http://schemas.openxmlformats.org/officeDocument/2006/relationships" id="260" r:id="R5e160afd4d2f46fd"/>
    <p:sldId xmlns:r="http://schemas.openxmlformats.org/officeDocument/2006/relationships" id="261" r:id="R95cdd0a00a674c4f"/>
    <p:sldId xmlns:r="http://schemas.openxmlformats.org/officeDocument/2006/relationships" id="262" r:id="Rb1e0d7754b954e37"/>
    <p:sldId xmlns:r="http://schemas.openxmlformats.org/officeDocument/2006/relationships" id="263" r:id="R90b49c0c90824db4"/>
    <p:sldId xmlns:r="http://schemas.openxmlformats.org/officeDocument/2006/relationships" id="264" r:id="R6618b8f6cd254ca1"/>
    <p:sldId xmlns:r="http://schemas.openxmlformats.org/officeDocument/2006/relationships" id="265" r:id="R577860fb17cc4793"/>
    <p:sldId xmlns:r="http://schemas.openxmlformats.org/officeDocument/2006/relationships" id="266" r:id="Ra9d2601e09b84d44"/>
    <p:sldId xmlns:r="http://schemas.openxmlformats.org/officeDocument/2006/relationships" id="267" r:id="Rf952296e85654f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fd95cf77a54938" /><Relationship Type="http://schemas.openxmlformats.org/officeDocument/2006/relationships/slideMaster" Target="/ppt/slideMasters/slideMaster1.xml" Id="R1cb74419dfa446df" /><Relationship Type="http://schemas.openxmlformats.org/officeDocument/2006/relationships/notesMaster" Target="/ppt/notesMasters/notesMaster1.xml" Id="R6010ed0808dc4953" /><Relationship Type="http://schemas.openxmlformats.org/officeDocument/2006/relationships/presProps" Target="/ppt/presProps.xml" Id="R7ffee7f338594784" /><Relationship Type="http://schemas.openxmlformats.org/officeDocument/2006/relationships/tableStyles" Target="/ppt/tableStyles.xml" Id="R6ac880f6ac374ddc" /><Relationship Type="http://schemas.openxmlformats.org/officeDocument/2006/relationships/slide" Target="/ppt/slides/slide1.xml" Id="R0be301129f1841a3" /><Relationship Type="http://schemas.openxmlformats.org/officeDocument/2006/relationships/slide" Target="/ppt/slides/slide2.xml" Id="R2408dccdc2584bd6" /><Relationship Type="http://schemas.openxmlformats.org/officeDocument/2006/relationships/slide" Target="/ppt/slides/slide3.xml" Id="Rb160de04f2704786" /><Relationship Type="http://schemas.openxmlformats.org/officeDocument/2006/relationships/slide" Target="/ppt/slides/slide4.xml" Id="R0603a0b1c6524597" /><Relationship Type="http://schemas.openxmlformats.org/officeDocument/2006/relationships/slide" Target="/ppt/slides/slide5.xml" Id="R5e160afd4d2f46fd" /><Relationship Type="http://schemas.openxmlformats.org/officeDocument/2006/relationships/slide" Target="/ppt/slides/slide6.xml" Id="R95cdd0a00a674c4f" /><Relationship Type="http://schemas.openxmlformats.org/officeDocument/2006/relationships/slide" Target="/ppt/slides/slide7.xml" Id="Rb1e0d7754b954e37" /><Relationship Type="http://schemas.openxmlformats.org/officeDocument/2006/relationships/slide" Target="/ppt/slides/slide8.xml" Id="R90b49c0c90824db4" /><Relationship Type="http://schemas.openxmlformats.org/officeDocument/2006/relationships/slide" Target="/ppt/slides/slide9.xml" Id="R6618b8f6cd254ca1" /><Relationship Type="http://schemas.openxmlformats.org/officeDocument/2006/relationships/slide" Target="/ppt/slides/slide10.xml" Id="R577860fb17cc4793" /><Relationship Type="http://schemas.openxmlformats.org/officeDocument/2006/relationships/slide" Target="/ppt/slides/slide11.xml" Id="Ra9d2601e09b84d44" /><Relationship Type="http://schemas.openxmlformats.org/officeDocument/2006/relationships/slide" Target="/ppt/slides/slide12.xml" Id="Rf952296e85654f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fe0e5ef4f942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516d2a7b294a9d" /><Relationship Type="http://schemas.openxmlformats.org/officeDocument/2006/relationships/notesMaster" Target="/ppt/notesMasters/notesMaster1.xml" Id="R1f038b87429043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f7701baa0a4256" /><Relationship Type="http://schemas.openxmlformats.org/officeDocument/2006/relationships/notesMaster" Target="/ppt/notesMasters/notesMaster1.xml" Id="R536f5f89f24944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0936611b7a4d95" /><Relationship Type="http://schemas.openxmlformats.org/officeDocument/2006/relationships/notesMaster" Target="/ppt/notesMasters/notesMaster1.xml" Id="Rf2ac92482e6d44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ae7db4f4214d2e" /><Relationship Type="http://schemas.openxmlformats.org/officeDocument/2006/relationships/notesMaster" Target="/ppt/notesMasters/notesMaster1.xml" Id="R920306cfc29d40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4cb85ef11947f7" /><Relationship Type="http://schemas.openxmlformats.org/officeDocument/2006/relationships/notesMaster" Target="/ppt/notesMasters/notesMaster1.xml" Id="R1166563483c648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3e9a0266134bd6" /><Relationship Type="http://schemas.openxmlformats.org/officeDocument/2006/relationships/notesMaster" Target="/ppt/notesMasters/notesMaster1.xml" Id="R12d7726e015741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0357e32cb749b5" /><Relationship Type="http://schemas.openxmlformats.org/officeDocument/2006/relationships/notesMaster" Target="/ppt/notesMasters/notesMaster1.xml" Id="Rccdf677d97bc4a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590563bcdc4a2a" /><Relationship Type="http://schemas.openxmlformats.org/officeDocument/2006/relationships/notesMaster" Target="/ppt/notesMasters/notesMaster1.xml" Id="R608c8a94153a4c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aa5b23de424e6c" /><Relationship Type="http://schemas.openxmlformats.org/officeDocument/2006/relationships/notesMaster" Target="/ppt/notesMasters/notesMaster1.xml" Id="R2c37ad83bc6b4b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3f73cc96a844fd" /><Relationship Type="http://schemas.openxmlformats.org/officeDocument/2006/relationships/notesMaster" Target="/ppt/notesMasters/notesMaster1.xml" Id="R7a6ee3d858a54d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4e7c87023e47af" /><Relationship Type="http://schemas.openxmlformats.org/officeDocument/2006/relationships/notesMaster" Target="/ppt/notesMasters/notesMaster1.xml" Id="Ra237eaa4677c410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17ebcd9fa74784" /><Relationship Type="http://schemas.openxmlformats.org/officeDocument/2006/relationships/notesMaster" Target="/ppt/notesMasters/notesMaster1.xml" Id="Rfe4bcda2967d42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起業家甲子園沖縄大会「ピッチ資料の作り方」 https://startup.okinawa/koushien-layout</a:t>
            </a:r>
          </a:p>
          <a:p xmlns:a="http://schemas.openxmlformats.org/drawingml/2006/main">
            <a:r>
              <a:t>本選映像を参考に、ステージ投影向けの高コントラスト・大見出しを採用。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課題の説明。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ガイドの「課題の解決策」に対応。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起業家甲子園沖縄大会「ピッチ資料の作り方」 https://startup.okinawa/koushien-layout</a:t>
            </a:r>
          </a:p>
          <a:p xmlns:a="http://schemas.openxmlformats.org/drawingml/2006/main">
            <a:r>
              <a:t>特定の個人的体験は未確認のため捏造せず、チームの問題意識と実装事実を記載。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実際にローカル起動した試作品画面を使用。標準採寸で生成し、必要生地量・A4 PDF・SVG・DXF・プレビューの表示を確認。画面内の旧開発名は見切れており表示されない。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技術動作は確認済み。利用者12件、時間短縮、修正回数、支払意向は未達成の検証目標。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起業家甲子園沖縄大会「ピッチ資料の作り方」 https://startup.okinawa/koushien-layout</a:t>
            </a:r>
          </a:p>
          <a:p xmlns:a="http://schemas.openxmlformats.org/drawingml/2006/main">
            <a:r>
              <a:t>市場規模の断定は避け、沖縄の初期検証から全国の個人・受注制作者・教育工房へ広げる獲得順序とボトムアップ売上を記載。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起業家甲子園沖縄大会「ピッチ資料の作り方」 https://startup.okinawa/koushien-layout</a:t>
            </a:r>
          </a:p>
          <a:p xmlns:a="http://schemas.openxmlformats.org/drawingml/2006/main">
            <a:r>
              <a:t>現在の実装資産と、利用者検証後に蓄積する補正データを分けて記載。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起業家甲子園沖縄大会「ピッチ資料の作り方」 https://startup.okinawa/koushien-layout</a:t>
            </a:r>
          </a:p>
          <a:p xmlns:a="http://schemas.openxmlformats.org/drawingml/2006/main">
            <a:r>
              <a:t>外部価格の参考: https://yousai.ocnk.net/phone/product/294 (1,550円、2026年9月確認)、https://draftmysize.com/ ($14.99/件、2026年9月確認)、https://tailornova.com/price//1000 ($29/月、$49/月、2026年9月確認)。Formaの料金は検証前の仮説。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短期KPIだけでなく、衣装制作の入口を設計基盤にする将来像を明示。数値は未達成の目標。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起業家甲子園沖縄大会「ピッチ資料の作り方」 https://startup.okinawa/koushien-layout</a:t>
            </a:r>
          </a:p>
          <a:p xmlns:a="http://schemas.openxmlformats.org/drawingml/2006/main">
            <a:r>
              <a:t>確認済みの役割のみ記載。未確認の受賞歴・専門資格・個別実績は追加していない。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起業家甲子園沖縄大会「ピッチ資料の作り方」 https://startup.okinawa/koushien-layout</a:t>
            </a:r>
          </a:p>
          <a:p xmlns:a="http://schemas.openxmlformats.org/drawingml/2006/main">
            <a:r>
              <a:t>結びでは、実装済み試作品を次の利用者検証へ進める具体的な依頼と90日計画を提示。数値は検証前の目標。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dae1f878a04f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dbf509586a4ff3" /><Relationship Type="http://schemas.openxmlformats.org/officeDocument/2006/relationships/slideLayout" Target="/ppt/slideLayouts/slideLayout1.xml" Id="Ra5fa6c91e7b14e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fa6c91e7b14e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bfec92fa54188" /><Relationship Type="http://schemas.openxmlformats.org/officeDocument/2006/relationships/image" Target="/ppt/media/image.png" Id="Ra66e9ec93c464502" /><Relationship Type="http://schemas.openxmlformats.org/officeDocument/2006/relationships/notesSlide" Target="/ppt/notesSlides/notesSlide1.xml" Id="Rbf982a4858334d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ffa22c5384ff3" /><Relationship Type="http://schemas.openxmlformats.org/officeDocument/2006/relationships/notesSlide" Target="/ppt/notesSlides/notesSlide2.xml" Id="R90263b88e10e4b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5d7cf25584d3f" /><Relationship Type="http://schemas.openxmlformats.org/officeDocument/2006/relationships/notesSlide" Target="/ppt/notesSlides/notesSlide3.xml" Id="Rf0a83d2a8be74a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909e9032846d4" /><Relationship Type="http://schemas.openxmlformats.org/officeDocument/2006/relationships/notesSlide" Target="/ppt/notesSlides/notesSlide4.xml" Id="R5b6affd4e79b4e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3501796ef4535" /><Relationship Type="http://schemas.openxmlformats.org/officeDocument/2006/relationships/image" Target="/ppt/media/image.jpeg" Id="R6341c65ab5704dcf" /><Relationship Type="http://schemas.openxmlformats.org/officeDocument/2006/relationships/notesSlide" Target="/ppt/notesSlides/notesSlide5.xml" Id="R0fd753a5042c40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8e67826f04175" /><Relationship Type="http://schemas.openxmlformats.org/officeDocument/2006/relationships/notesSlide" Target="/ppt/notesSlides/notesSlide6.xml" Id="R1f0a7b53745441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e6025b7d346dc" /><Relationship Type="http://schemas.openxmlformats.org/officeDocument/2006/relationships/notesSlide" Target="/ppt/notesSlides/notesSlide7.xml" Id="R234642e3cb804f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8e7735ad14d74" /><Relationship Type="http://schemas.openxmlformats.org/officeDocument/2006/relationships/notesSlide" Target="/ppt/notesSlides/notesSlide8.xml" Id="R2d3a3fcdd6d04f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e559979c9442c" /><Relationship Type="http://schemas.openxmlformats.org/officeDocument/2006/relationships/notesSlide" Target="/ppt/notesSlides/notesSlide9.xml" Id="R39439e58f5df40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c64f005d143df" /><Relationship Type="http://schemas.openxmlformats.org/officeDocument/2006/relationships/notesSlide" Target="/ppt/notesSlides/notesSlide10.xml" Id="Rba9a80747af443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c6b12ae244e9d" /><Relationship Type="http://schemas.openxmlformats.org/officeDocument/2006/relationships/notesSlide" Target="/ppt/notesSlides/notesSlide11.xml" Id="Rf4b02090dac548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9ec4be06c4e11" /><Relationship Type="http://schemas.openxmlformats.org/officeDocument/2006/relationships/notesSlide" Target="/ppt/notesSlides/notesSlide12.xml" Id="R8f7852b5266846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5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6e9ec93c464502"/>
          <a:srcRect xmlns:a="http://schemas.openxmlformats.org/drawingml/2006/main" l="24400" t="0" r="244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3125" y="0"/>
            <a:ext cx="623887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415F7-92DB-4437-B510-C3E1382E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30"/>
          </a:solidFill>
          <a:ln xmlns:a="http://schemas.openxmlformats.org/drawingml/2006/main" w="0">
            <a:solidFill>
              <a:srgbClr val="0B153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426B2-C8FB-4C02-B7DC-1FF4F4C0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2382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D44D"/>
          </a:solidFill>
          <a:ln xmlns:a="http://schemas.openxmlformats.org/drawingml/2006/main" w="0">
            <a:solidFill>
              <a:srgbClr val="FFD4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ECAEB-8762-4097-8B25-316FB529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733425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OKINAWA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006A7-709B-423E-9ECC-E5A14C07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4953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F0544-DFE9-4314-A1BD-2212E6AF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採寸とデザインを、</a:t>
            </a:r>
          </a:p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縫える型紙へ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68EF25-6346-4B71-8A1B-1D77253B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5E1F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5E1F7"/>
                </a:solidFill>
                <a:latin typeface="Arial"/>
                <a:ea typeface="Arial"/>
                <a:cs typeface="Arial"/>
              </a:rPr>
              <a:t>衣装の参照画像と身体採寸を入力し、試作に使う型紙データを出力するプロトタイプ。</a:t>
            </a:r>
          </a:p>
          <a:p xmlns:a="http://schemas.openxmlformats.org/drawingml/2006/main">
            <a:pPr>
              <a:defRPr sz="1575" b="0">
                <a:solidFill>
                  <a:srgbClr val="D5E1F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5E1F7"/>
                </a:solidFill>
                <a:latin typeface="Arial"/>
                <a:ea typeface="Arial"/>
                <a:cs typeface="Arial"/>
              </a:rPr>
              <a:t>現在は型紙変形・縫製記号・SVG／PDF／DXF出力を実装済み。実物試作で精度を検証する。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BCDD3-3282-4E35-9CC9-2584EF1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3D2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3D2EC"/>
                </a:solidFill>
                <a:latin typeface="Arial"/>
                <a:ea typeface="Arial"/>
                <a:cs typeface="Arial"/>
              </a:rPr>
              <a:t>プロダクト名：Forma</a:t>
            </a:r>
          </a:p>
          <a:p xmlns:a="http://schemas.openxmlformats.org/drawingml/2006/main">
            <a:pPr>
              <a:defRPr sz="1275" b="0">
                <a:solidFill>
                  <a:srgbClr val="C3D2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3D2EC"/>
                </a:solidFill>
                <a:latin typeface="Arial"/>
                <a:ea typeface="Arial"/>
                <a:cs typeface="Arial"/>
              </a:rPr>
              <a:t>学校名：沖縄工業高等専門学校</a:t>
            </a:r>
          </a:p>
        </p:txBody>
      </p:sp>
    </p:spTree>
    <p:extLst>
      <p:ext uri="{BB962C8B-B14F-4D97-AF65-F5344CB8AC3E}">
        <p14:creationId xmlns:p14="http://schemas.microsoft.com/office/powerpoint/2010/main" val="11361393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5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CD621-C4AD-4FA4-9F18-F3309C28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28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衣装を作りたい。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でも、型紙がない。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7D65D-34C0-4050-B558-4F54B041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66950"/>
            <a:ext cx="923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5E1F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5E1F7"/>
                </a:solidFill>
                <a:latin typeface="Arial"/>
                <a:ea typeface="Arial"/>
                <a:cs typeface="Arial"/>
              </a:rPr>
              <a:t>衣装制作では「参考画像」「採寸」「型紙」を別々に扱う。画像だけでは身体に合う形を決められず、採寸だけではデザインを再現できない。結果として、試作前に専門家への依頼や手作業の型紙作成が必要にな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D0D58-B58A-4B4E-8D17-D7B56B2C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4D"/>
          </a:solidFill>
          <a:ln xmlns:a="http://schemas.openxmlformats.org/drawingml/2006/main" w="0">
            <a:solidFill>
              <a:srgbClr val="FFD4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89792-31C4-4CBA-B5D6-2A831335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D4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D44D"/>
                </a:solidFill>
                <a:latin typeface="Arial"/>
                <a:ea typeface="Arial"/>
                <a:cs typeface="Arial"/>
              </a:rPr>
              <a:t>参考画像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FA380-B538-4D62-96C7-04BD0CA8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見た目・配色・装飾の手がかり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B1B41-7B16-4251-B6CD-DB583F1C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43375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D4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D44D"/>
                </a:solidFill>
                <a:latin typeface="Arial"/>
                <a:ea typeface="Arial"/>
                <a:cs typeface="Arial"/>
              </a:rPr>
              <a:t>身体採寸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C3358-BB29-4046-AA74-23AABECB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482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着る人に合わせるための数値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8A7CAF-F2CD-4E4C-9798-90968F9D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43375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D4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D44D"/>
                </a:solidFill>
                <a:latin typeface="Arial"/>
                <a:ea typeface="Arial"/>
                <a:cs typeface="Arial"/>
              </a:rPr>
              <a:t>型紙データ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1C711-8F60-4BF3-A94B-4E8CB4DA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482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布を裁断し、縫製するための設計図</a:t>
            </a:r>
          </a:p>
        </p:txBody>
      </p:sp>
    </p:spTree>
    <p:extLst>
      <p:ext uri="{BB962C8B-B14F-4D97-AF65-F5344CB8AC3E}">
        <p14:creationId xmlns:p14="http://schemas.microsoft.com/office/powerpoint/2010/main" val="2835631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D89653-CFDF-4712-B9F0-267D4D70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60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0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C00BF-D4E5-478E-92AA-96FA9E0A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60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60D4"/>
                </a:solidFill>
                <a:latin typeface="Arial"/>
                <a:ea typeface="Arial"/>
                <a:cs typeface="Arial"/>
              </a:rPr>
              <a:t>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3AC3E-8B1D-48E3-B1EE-0AB80E97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最初の一枚を、試せる状態にする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6F826-47FE-4916-8CC2-FB237498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4D"/>
          </a:solidFill>
          <a:ln xmlns:a="http://schemas.openxmlformats.org/drawingml/2006/main" w="0">
            <a:solidFill>
              <a:srgbClr val="FFD44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0A8F5-1856-4C32-B2F7-D9CA4F36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Formaは、参照画像と採寸から確認可能な型紙データを作る。</a:t>
            </a:r>
          </a:p>
          <a:p xmlns:a="http://schemas.openxmlformats.org/drawingml/2006/main">
            <a:pPr>
              <a:defRPr sz="2175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完成品を自動で保証するサービスではなく、試作を始めるための設計データを早く用意する。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CC3EF6-078F-430A-8D63-50AC6361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1714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19B54-FEB6-4A5D-8843-2E48CD8F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527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60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0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EFDF6-AA22-4763-BC9B-E3B9CE34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289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参照を渡す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AE3CB-C162-43B5-9981-81EC6BD9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623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58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8758A"/>
                </a:solidFill>
                <a:latin typeface="Arial"/>
                <a:ea typeface="Arial"/>
                <a:cs typeface="Arial"/>
              </a:rPr>
              <a:t>全身・前後・装飾が分かる画像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B055C-8190-4501-86E6-E07F827D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1714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6DDC70-9148-494E-806D-E10769E7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527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60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0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CAD3E-59DF-4F62-8F92-663CD0DB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289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採寸を入れる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07224D-52C1-4793-8C38-95F131E5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623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58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8758A"/>
                </a:solidFill>
                <a:latin typeface="Arial"/>
                <a:ea typeface="Arial"/>
                <a:cs typeface="Arial"/>
              </a:rPr>
              <a:t>身長や主要部位の寸法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F39B42-D662-4033-B28B-FF3E0581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43375"/>
            <a:ext cx="1714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660D4"/>
          </a:solidFill>
          <a:ln xmlns:a="http://schemas.openxmlformats.org/drawingml/2006/main" w="0">
            <a:solidFill>
              <a:srgbClr val="1660D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316B2A-7D0F-48F6-B9C5-C3664DCC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148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D44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D44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8A7CD9-9126-4D76-8C9E-D0E9CBA7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910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構成を確認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37C73C-38A3-486A-B89F-67C25844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2442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9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CE9FF"/>
                </a:solidFill>
                <a:latin typeface="Arial"/>
                <a:ea typeface="Arial"/>
                <a:cs typeface="Arial"/>
              </a:rPr>
              <a:t>パーツ、縫い代、合印を確認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E4B071-CB10-491A-AA94-035D9AD3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43375"/>
            <a:ext cx="1714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386136-2A03-4F38-8CBD-96E3208C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3148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60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0D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6F7BC0-A82D-4B99-AC87-439C0AAE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910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出力して試作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DED66B-592B-467F-8B25-B746A28D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92442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58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8758A"/>
                </a:solidFill>
                <a:latin typeface="Arial"/>
                <a:ea typeface="Arial"/>
                <a:cs typeface="Arial"/>
              </a:rPr>
              <a:t>SVG／A4 PDF／DXFで出力</a:t>
            </a:r>
          </a:p>
        </p:txBody>
      </p:sp>
    </p:spTree>
    <p:extLst>
      <p:ext uri="{BB962C8B-B14F-4D97-AF65-F5344CB8AC3E}">
        <p14:creationId xmlns:p14="http://schemas.microsoft.com/office/powerpoint/2010/main" val="2760449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D4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2D9F74-EBDE-4FC0-909F-6EB01982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00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私たちの</a:t>
            </a:r>
          </a:p>
          <a:p xmlns:a="http://schemas.openxmlformats.org/drawingml/2006/main">
            <a:pPr>
              <a:defRPr sz="450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出発点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4293F-AD3C-4494-BD9B-9017ABCA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838200"/>
            <a:ext cx="581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画像はある。採寸もできる。</a:t>
            </a:r>
          </a:p>
          <a:p xmlns:a="http://schemas.openxmlformats.org/drawingml/2006/main">
            <a:pPr>
              <a:defRPr sz="255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それでも、縫い始められない。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4EE6C-0FF5-430E-9DFE-4C34DBCC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38375"/>
            <a:ext cx="571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F213E"/>
                </a:solidFill>
                <a:latin typeface="Arial"/>
                <a:ea typeface="Arial"/>
                <a:cs typeface="Arial"/>
              </a:rPr>
              <a:t>衣装制作では、参考画像を「パーツ」「寸法」「裁断線」に翻訳する工程が必要になる。ここで専門知識が足りず、試作へ進めない人がいる。私たちは、この最初の一枚を自分たちの技術で作れないかと考え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74689-3019-46E5-B659-6D9E5292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7338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13E"/>
          </a:solidFill>
          <a:ln xmlns:a="http://schemas.openxmlformats.org/drawingml/2006/main" w="0">
            <a:solidFill>
              <a:srgbClr val="0F21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B7AEF-6637-44AC-B898-72F2B5D2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481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だから、5人で実装した。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ED638-2D19-4319-B339-4F7D19F5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591050"/>
            <a:ext cx="5476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採寸反映、縫い代・合印、必要生地量、</a:t>
            </a:r>
          </a:p>
          <a:p xmlns:a="http://schemas.openxmlformats.org/drawingml/2006/main">
            <a:pPr>
              <a:defRPr sz="1575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SVG／A4 PDF／DXF出力まで動く試作品を開発。</a:t>
            </a:r>
          </a:p>
          <a:p xmlns:a="http://schemas.openxmlformats.org/drawingml/2006/main">
            <a:pPr>
              <a:defRPr sz="1575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次は、実際に縫って精度を証明する。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092CB-6563-4DC0-AF08-5B1339B9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60483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85A4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5A4F"/>
                </a:solidFill>
                <a:latin typeface="Arial"/>
                <a:ea typeface="Arial"/>
                <a:cs typeface="Arial"/>
              </a:rPr>
              <a:t>確認済み：ソフトウェア動作　　未検証：実物の着用精度</a:t>
            </a:r>
          </a:p>
        </p:txBody>
      </p:sp>
    </p:spTree>
    <p:extLst>
      <p:ext uri="{BB962C8B-B14F-4D97-AF65-F5344CB8AC3E}">
        <p14:creationId xmlns:p14="http://schemas.microsoft.com/office/powerpoint/2010/main" val="15557569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710FB5-3C8E-457C-9E12-DFC18356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60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0D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CEDA7-B5E8-4C01-AA52-2302EB86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60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60D4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066C9-2F3B-41EB-85B0-328C0D7D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動く試作品がある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7A08B-F4D7-4FC6-AFC6-4CFD2259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4D"/>
          </a:solidFill>
          <a:ln xmlns:a="http://schemas.openxmlformats.org/drawingml/2006/main" w="0">
            <a:solidFill>
              <a:srgbClr val="FFD44D"/>
            </a:solidFill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41c65ab5704dcf"/>
          <a:srcRect xmlns:a="http://schemas.openxmlformats.org/drawingml/2006/main" l="37" t="0" r="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333625"/>
            <a:ext cx="7000875" cy="39433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1C0E4-D56A-421D-A2EB-CAC549A5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33625"/>
            <a:ext cx="3333750" cy="39433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B1530"/>
          </a:solidFill>
          <a:ln xmlns:a="http://schemas.openxmlformats.org/drawingml/2006/main" w="0">
            <a:solidFill>
              <a:srgbClr val="0B153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B9FC60-AAAF-427C-8FC2-97CED6FE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384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D4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D44D"/>
                </a:solidFill>
                <a:latin typeface="Arial"/>
                <a:ea typeface="Arial"/>
                <a:cs typeface="Arial"/>
              </a:rPr>
              <a:t>実装済み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24FEC-6781-407F-A7BA-FFC7109F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48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D44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D44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7DB385-9C28-450C-B708-F1268A77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28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採寸を反映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D67A1F-8931-4625-93DB-CC534F55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76600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8D7E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8D7EF"/>
                </a:solidFill>
                <a:latin typeface="Arial"/>
                <a:ea typeface="Arial"/>
                <a:cs typeface="Arial"/>
              </a:rPr>
              <a:t>バスト・ウエスト・身長など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DE3AE-19C4-4D35-B202-714E354B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33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D44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D44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75D5C-F9C5-4288-A6B7-934A1613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14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縫製情報を付与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F6CE9B-0C13-424F-9CB9-EDAFC7D3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62400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8D7E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8D7EF"/>
                </a:solidFill>
                <a:latin typeface="Arial"/>
                <a:ea typeface="Arial"/>
                <a:cs typeface="Arial"/>
              </a:rPr>
              <a:t>縫い代・合印・布目線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00F6DA-23EB-48EE-80C0-35615E66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196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D44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D44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A72D46-82D9-4E78-9BC3-AEBF92B9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00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材料を見積もる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4BDF97-3F35-426D-AF63-A70FFF9E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48200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8D7E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8D7EF"/>
                </a:solidFill>
                <a:latin typeface="Arial"/>
                <a:ea typeface="Arial"/>
                <a:cs typeface="Arial"/>
              </a:rPr>
              <a:t>必要な生地幅と長さ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2E097A-3920-493D-943E-6FB175F1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054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D44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D44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A246BC-F2B0-44EC-B064-CF2CD6F8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86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3形式で出力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BB318F-59AF-456E-9FDB-09773B2D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334000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8D7E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8D7EF"/>
                </a:solidFill>
                <a:latin typeface="Arial"/>
                <a:ea typeface="Arial"/>
                <a:cs typeface="Arial"/>
              </a:rPr>
              <a:t>SVG／A4 PDF／DXF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E319EB-1E4B-4FA5-9AB5-1039219A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8758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58A"/>
                </a:solidFill>
                <a:latin typeface="Arial"/>
                <a:ea typeface="Arial"/>
                <a:cs typeface="Arial"/>
              </a:rPr>
              <a:t>Forma 試作画面　2026年9月時点</a:t>
            </a:r>
          </a:p>
        </p:txBody>
      </p:sp>
    </p:spTree>
    <p:extLst>
      <p:ext uri="{BB962C8B-B14F-4D97-AF65-F5344CB8AC3E}">
        <p14:creationId xmlns:p14="http://schemas.microsoft.com/office/powerpoint/2010/main" val="18625255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B02838-3D10-4C2B-88E3-AF699EBA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60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0D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67D62-85C7-444B-8869-31F13348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60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60D4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001F2-B005-4466-969D-B41F3D32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できたことと、</a:t>
            </a:r>
          </a:p>
          <a:p xmlns:a="http://schemas.openxmlformats.org/drawingml/2006/main">
            <a:pPr>
              <a:defRPr sz="315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これから証明すること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19030-495D-4933-B5B2-52CD20EE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4D"/>
          </a:solidFill>
          <a:ln xmlns:a="http://schemas.openxmlformats.org/drawingml/2006/main" w="0">
            <a:solidFill>
              <a:srgbClr val="FFD44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81AB7-40BF-45BB-9E87-BF37832B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F213E"/>
                </a:solidFill>
                <a:latin typeface="Arial"/>
                <a:ea typeface="Arial"/>
                <a:cs typeface="Arial"/>
              </a:rPr>
              <a:t>提出時点では「技術検証済み／利用者検証はこれから」。実績と目標を混ぜず、90日で判断材料を集める。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62EEB-090C-4FEA-9E1E-A99B8ED4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47625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B0C310-0066-4423-9D87-BF965CC4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813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60D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60D4"/>
                </a:solidFill>
                <a:latin typeface="Arial"/>
                <a:ea typeface="Arial"/>
                <a:cs typeface="Arial"/>
              </a:rPr>
              <a:t>確認済み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8EA0EE-F1D6-425C-A3D8-1B5B69B1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86200"/>
            <a:ext cx="4000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✓ Web画面で採寸・構成を入力できる</a:t>
            </a:r>
          </a:p>
          <a:p xmlns:a="http://schemas.openxmlformats.org/drawingml/2006/main">
            <a:pPr>
              <a:defRPr sz="150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✓ 必要生地量を算出できる</a:t>
            </a:r>
          </a:p>
          <a:p xmlns:a="http://schemas.openxmlformats.org/drawingml/2006/main">
            <a:pPr>
              <a:defRPr sz="150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✓ SVG／A4 PDF／DXFを出力できる</a:t>
            </a:r>
          </a:p>
          <a:p xmlns:a="http://schemas.openxmlformats.org/drawingml/2006/main">
            <a:pPr>
              <a:defRPr sz="150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✓ 型紙の画面プレビューを確認できる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DAC519-3796-4D87-ADEC-0D139387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095625"/>
            <a:ext cx="5476875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DFE9FA"/>
          </a:solidFill>
          <a:ln xmlns:a="http://schemas.openxmlformats.org/drawingml/2006/main" w="0">
            <a:solidFill>
              <a:srgbClr val="DFE9F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44FD5-1E7C-4F45-B672-CE13CB1D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813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60D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60D4"/>
                </a:solidFill>
                <a:latin typeface="Arial"/>
                <a:ea typeface="Arial"/>
                <a:cs typeface="Arial"/>
              </a:rPr>
              <a:t>90日で検証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529160-E978-482C-ACC3-D7B365CB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86200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12件を同じ記録票で追う</a:t>
            </a:r>
          </a:p>
          <a:p xmlns:a="http://schemas.openxmlformats.org/drawingml/2006/main">
            <a:pPr>
              <a:defRPr sz="150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作業時間：既存手順比 25％短縮</a:t>
            </a:r>
          </a:p>
          <a:p xmlns:a="http://schemas.openxmlformats.org/drawingml/2006/main">
            <a:pPr>
              <a:defRPr sz="150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修正回数：中央値で1回以上削減</a:t>
            </a:r>
          </a:p>
          <a:p xmlns:a="http://schemas.openxmlformats.org/drawingml/2006/main">
            <a:pPr>
              <a:defRPr sz="150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支払意向：8人以上が4／5以上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1A19BA-41D6-4242-B2EE-ADF3377D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85A4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85A4F"/>
                </a:solidFill>
                <a:latin typeface="Arial"/>
                <a:ea typeface="Arial"/>
                <a:cs typeface="Arial"/>
              </a:rPr>
              <a:t>未達なら、機能追加より先に対象顧客・使う衣装・価格を見直す。</a:t>
            </a:r>
          </a:p>
        </p:txBody>
      </p:sp>
    </p:spTree>
    <p:extLst>
      <p:ext uri="{BB962C8B-B14F-4D97-AF65-F5344CB8AC3E}">
        <p14:creationId xmlns:p14="http://schemas.microsoft.com/office/powerpoint/2010/main" val="4608692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3A8FDE-1315-4C6B-8DA0-C3A6B79E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60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0D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17F0A-0165-4820-A959-61C261D4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60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60D4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25B7B-A58A-49A1-BBBC-DC548F58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8096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沖縄で確かめ、</a:t>
            </a:r>
          </a:p>
          <a:p xmlns:a="http://schemas.openxmlformats.org/drawingml/2006/main">
            <a:pPr>
              <a:defRPr sz="390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全国の作り手へ広げる。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CC83E-ABFE-4F9C-A9E2-CA6A6749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F213E"/>
                </a:solidFill>
                <a:latin typeface="Arial"/>
                <a:ea typeface="Arial"/>
                <a:cs typeface="Arial"/>
              </a:rPr>
              <a:t>根拠の薄い巨大市場ではなく、最初に獲得できる顧客と、その次の広がりを示す。人数と売上は達成目標であり、実績ではない。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6E83E-9311-48D8-835F-13DB11B3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30956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530"/>
          </a:solidFill>
          <a:ln xmlns:a="http://schemas.openxmlformats.org/drawingml/2006/main" w="0">
            <a:solidFill>
              <a:srgbClr val="0B153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27DB0-65FA-46F4-96C9-F34183F3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909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4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D44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8C479-B6A1-4DEE-9F93-AC31BAFD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0〜3か月　沖縄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FAAEA-0555-4655-B16B-FD6DBCAA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8E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8E6FF"/>
                </a:solidFill>
                <a:latin typeface="Arial"/>
                <a:ea typeface="Arial"/>
                <a:cs typeface="Arial"/>
              </a:rPr>
              <a:t>学生・個人制作者 12件</a:t>
            </a:r>
          </a:p>
          <a:p xmlns:a="http://schemas.openxmlformats.org/drawingml/2006/main">
            <a:pPr>
              <a:defRPr sz="1350" b="1">
                <a:solidFill>
                  <a:srgbClr val="D8E6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8E6FF"/>
                </a:solidFill>
                <a:latin typeface="Arial"/>
                <a:ea typeface="Arial"/>
                <a:cs typeface="Arial"/>
              </a:rPr>
              <a:t>対面で試作工程を観察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CC8717-AB9C-4C31-B780-E4F88F0A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33750"/>
            <a:ext cx="30956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A97CD0-5467-4F39-942B-1C446814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909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60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60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501BF7-6CCA-4C1D-BF70-F4F9A3C4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433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4〜6か月　全国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FCD890-2858-439F-8607-38FE265A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815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個人向け有償 20件</a:t>
            </a:r>
          </a:p>
          <a:p xmlns:a="http://schemas.openxmlformats.org/drawingml/2006/main">
            <a:pPr>
              <a:defRPr sz="135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単発購入の成立を確認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5F5FE7-A31B-4FC5-8D65-AA9F66CC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33750"/>
            <a:ext cx="30956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FA0860-73E8-4436-BBBB-2A49936D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60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60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D6744E-D407-4F65-A5C6-7EC67988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433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7〜12か月　展開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2D7FC-3A49-4825-99CB-E7808D90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815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個人50件／月＋受注10者</a:t>
            </a:r>
          </a:p>
          <a:p xmlns:a="http://schemas.openxmlformats.org/drawingml/2006/main">
            <a:pPr>
              <a:defRPr sz="135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＋教育・工房3団体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25EF8A-5000-45D3-8A2A-1BCC1929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60D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60D4"/>
                </a:solidFill>
                <a:latin typeface="Arial"/>
                <a:ea typeface="Arial"/>
                <a:cs typeface="Arial"/>
              </a:rPr>
              <a:t>初年度ベースケース：月154,200円／年1,850,400円（税・決済手数料・人件費控除前）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4A14FE-859C-42CB-BE98-99CDDAC9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5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58A"/>
                </a:solidFill>
                <a:latin typeface="Arial"/>
                <a:ea typeface="Arial"/>
                <a:cs typeface="Arial"/>
              </a:rPr>
              <a:t>計算：個人50×1,500円＋受注10×4,980円＋団体3×9,800円</a:t>
            </a:r>
          </a:p>
        </p:txBody>
      </p:sp>
    </p:spTree>
    <p:extLst>
      <p:ext uri="{BB962C8B-B14F-4D97-AF65-F5344CB8AC3E}">
        <p14:creationId xmlns:p14="http://schemas.microsoft.com/office/powerpoint/2010/main" val="3724067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1219F4-414E-4460-AAB8-FC0BC995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60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0D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6DABA-4635-43FF-97F8-73F59098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60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60D4"/>
                </a:solidFill>
                <a:latin typeface="Arial"/>
                <a:ea typeface="Arial"/>
                <a:cs typeface="Arial"/>
              </a:rPr>
              <a:t>DIFFERENCE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56192-C233-494D-AABE-FA289207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Formaは、工程をつなぐ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88299D-4C01-47FF-97B7-F4BCBD4A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4D"/>
          </a:solidFill>
          <a:ln xmlns:a="http://schemas.openxmlformats.org/drawingml/2006/main" w="0">
            <a:solidFill>
              <a:srgbClr val="FFD44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8ABCFE-DE81-4D06-AEFA-3CA5AAB8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5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58A"/>
                </a:solidFill>
                <a:latin typeface="Arial"/>
                <a:ea typeface="Arial"/>
                <a:cs typeface="Arial"/>
              </a:rPr>
              <a:t>見た目を作るだけでも、既製型紙を選ぶだけでもない。参照資料・身体寸法・裁断データを一つの試作工程につなぐ。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AEEBD-8082-4653-9660-FF573887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30956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15A0A-889B-4D17-849E-E73C5739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60D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60D4"/>
                </a:solidFill>
                <a:latin typeface="Arial"/>
                <a:ea typeface="Arial"/>
                <a:cs typeface="Arial"/>
              </a:rPr>
              <a:t>既存の型紙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9B854-FD82-450E-A95E-48C6DCE5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7187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既製設計を選び</a:t>
            </a:r>
          </a:p>
          <a:p xmlns:a="http://schemas.openxmlformats.org/drawingml/2006/main">
            <a:pPr>
              <a:defRPr sz="135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手作業で体型補正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BA4585-28FC-4E70-83B8-7564B923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57500"/>
            <a:ext cx="30956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1D335-6B1A-4200-8C0E-D6B5917F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43250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60D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60D4"/>
                </a:solidFill>
                <a:latin typeface="Arial"/>
                <a:ea typeface="Arial"/>
                <a:cs typeface="Arial"/>
              </a:rPr>
              <a:t>画像生成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1A92DF-6384-4CA1-B53C-611338C7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7187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見た目案を作る</a:t>
            </a:r>
          </a:p>
          <a:p xmlns:a="http://schemas.openxmlformats.org/drawingml/2006/main">
            <a:pPr>
              <a:defRPr sz="135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裁断データは別工程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00F073-1D1E-463C-A0D1-8BBBDF4A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57500"/>
            <a:ext cx="30956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B1530"/>
          </a:solidFill>
          <a:ln xmlns:a="http://schemas.openxmlformats.org/drawingml/2006/main" w="0">
            <a:solidFill>
              <a:srgbClr val="0B153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BCE1D6-5FDB-43CE-AD28-3B862835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43250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D4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D44D"/>
                </a:solidFill>
                <a:latin typeface="Arial"/>
                <a:ea typeface="Arial"/>
                <a:cs typeface="Arial"/>
              </a:rPr>
              <a:t>Forma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AB3164-56FA-4E06-8904-7A2C31C7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7187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資料＋採寸から</a:t>
            </a:r>
          </a:p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試作向けデータを出力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7E14A9-BE3E-4914-AD83-3467E9F5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模倣されにくさは、使うほど増える。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6168C0-03B2-418A-9290-99804EFC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60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60D4"/>
                </a:solidFill>
                <a:latin typeface="Arial"/>
                <a:ea typeface="Arial"/>
                <a:cs typeface="Arial"/>
              </a:rPr>
              <a:t>現在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2EC848-942B-4E2F-869A-8E0760CE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60種の型紙テンプレートと、採寸・縫製ルールを実装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2AFCD1-309E-4F4F-B431-543C9E1B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149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60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60D4"/>
                </a:solidFill>
                <a:latin typeface="Arial"/>
                <a:ea typeface="Arial"/>
                <a:cs typeface="Arial"/>
              </a:rPr>
              <a:t>検証後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C247C7-4A72-4E02-99B9-BDDE1262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14975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213E"/>
                </a:solidFill>
                <a:latin typeface="Arial"/>
                <a:ea typeface="Arial"/>
                <a:cs typeface="Arial"/>
              </a:rPr>
              <a:t>試作ごとの「直した箇所・理由・着用結果」を蓄積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0F99DF-DBB4-43FC-816A-868450C8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340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60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60D4"/>
                </a:solidFill>
                <a:latin typeface="Arial"/>
                <a:ea typeface="Arial"/>
                <a:cs typeface="Arial"/>
              </a:rPr>
              <a:t>将来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498336-FB05-4A93-83BF-38811816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34075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213E"/>
                </a:solidFill>
                <a:latin typeface="Arial"/>
                <a:ea typeface="Arial"/>
                <a:cs typeface="Arial"/>
              </a:rPr>
              <a:t>衣装構造ごとの補正知識を再利用し、初回精度を上げる</a:t>
            </a:r>
          </a:p>
        </p:txBody>
      </p:sp>
    </p:spTree>
    <p:extLst>
      <p:ext uri="{BB962C8B-B14F-4D97-AF65-F5344CB8AC3E}">
        <p14:creationId xmlns:p14="http://schemas.microsoft.com/office/powerpoint/2010/main" val="20658582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EE1341-E507-44EE-8C9F-DF067C06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590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価格仮説と</a:t>
            </a:r>
          </a:p>
          <a:p xmlns:a="http://schemas.openxmlformats.org/drawingml/2006/main">
            <a:pPr>
              <a:defRPr sz="4125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外部の比較軸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00DAD2-4C05-439A-A2C2-18F8973D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286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213E"/>
                </a:solidFill>
                <a:latin typeface="Arial"/>
                <a:ea typeface="Arial"/>
                <a:cs typeface="Arial"/>
              </a:rPr>
              <a:t>国内の型紙販売例は1,550円。海外のカスタム型紙は1件14.99ドル、パターンSaaSは月29〜49ドルで提供される。Formaは、初期検証では国内の単発購入に合わせる。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802CD-CB03-40D3-9408-F174F69C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14625"/>
            <a:ext cx="4191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75603-4D24-4751-93C5-41D2E41C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57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60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60D4"/>
                </a:solidFill>
                <a:latin typeface="Arial"/>
                <a:ea typeface="Arial"/>
                <a:cs typeface="Arial"/>
              </a:rPr>
              <a:t>個人制作者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D36FF-E4B7-4DE3-966B-93D7696E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28925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1着 1,500円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B24E3-45F5-4663-9E6A-66C2A903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52775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875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8758A"/>
                </a:solidFill>
                <a:latin typeface="Arial"/>
                <a:ea typeface="Arial"/>
                <a:cs typeface="Arial"/>
              </a:rPr>
              <a:t>A4 PDF・SVG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1D3CE9-60AF-451C-AF0A-76120DD9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4191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660D4"/>
          </a:solidFill>
          <a:ln xmlns:a="http://schemas.openxmlformats.org/drawingml/2006/main" w="0">
            <a:solidFill>
              <a:srgbClr val="1660D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B5E290-44BA-45FE-AE0F-2BC92727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528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D44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D44D"/>
                </a:solidFill>
                <a:latin typeface="Arial"/>
                <a:ea typeface="Arial"/>
                <a:cs typeface="Arial"/>
              </a:rPr>
              <a:t>受注制作者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E7F88-FD7A-417F-8F49-E278DA84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24300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月 4,980円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AE5533-C34C-4421-9DE1-6700B700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4815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CE9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CE9FF"/>
                </a:solidFill>
                <a:latin typeface="Arial"/>
                <a:ea typeface="Arial"/>
                <a:cs typeface="Arial"/>
              </a:rPr>
              <a:t>5出力まで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15B268-CFCA-45E6-83D6-2B7CCA37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191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C08CA8-CC43-4BB2-A856-FABDEFEA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0482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60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60D4"/>
                </a:solidFill>
                <a:latin typeface="Arial"/>
                <a:ea typeface="Arial"/>
                <a:cs typeface="Arial"/>
              </a:rPr>
              <a:t>教育・工房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D2F624-F0CB-4DE9-B0A4-4690BD91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19675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月 9,800円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019B7-86F6-4324-BB48-E6AB529D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43525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875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8758A"/>
                </a:solidFill>
                <a:latin typeface="Arial"/>
                <a:ea typeface="Arial"/>
                <a:cs typeface="Arial"/>
              </a:rPr>
              <a:t>10利用枠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1A46EB-4578-4A4C-9AAC-6A74BF9D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561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60D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60D4"/>
                </a:solidFill>
                <a:latin typeface="Arial"/>
                <a:ea typeface="Arial"/>
                <a:cs typeface="Arial"/>
              </a:rPr>
              <a:t>価格テストは全12人に3価格を提示する。小標本のため、価格最適化ではなく購入意向の方向を確かめる。</a:t>
            </a:r>
          </a:p>
        </p:txBody>
      </p:sp>
    </p:spTree>
    <p:extLst>
      <p:ext uri="{BB962C8B-B14F-4D97-AF65-F5344CB8AC3E}">
        <p14:creationId xmlns:p14="http://schemas.microsoft.com/office/powerpoint/2010/main" val="3786224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5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34A417-F6A2-4F0B-ABA6-DA270376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2382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D44D"/>
          </a:solidFill>
          <a:ln xmlns:a="http://schemas.openxmlformats.org/drawingml/2006/main" w="0">
            <a:solidFill>
              <a:srgbClr val="FFD44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9E507-7929-4E31-A0E7-17CD8FED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9055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73253-7A19-4473-9BF3-BC628801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76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型紙技術の有無で、</a:t>
            </a:r>
          </a:p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つくることを諦めない。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629F4-472A-42CE-A63B-BDCA5A2A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8E6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8E6FF"/>
                </a:solidFill>
                <a:latin typeface="Arial"/>
                <a:ea typeface="Arial"/>
                <a:cs typeface="Arial"/>
              </a:rPr>
              <a:t>Formaが目指すのは、画像を出すAIではなく、衣装を実際に縫い始められる設計基盤。まず沖縄で試し、検証できた工程から全国へ広げる。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CF80C-6062-4C65-8107-A0C8AA17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38500"/>
            <a:ext cx="3000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4D"/>
          </a:solidFill>
          <a:ln xmlns:a="http://schemas.openxmlformats.org/drawingml/2006/main" w="0">
            <a:solidFill>
              <a:srgbClr val="FFD44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DB18CC-DA75-4321-93E0-E04B0A64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D4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D44D"/>
                </a:solidFill>
                <a:latin typeface="Arial"/>
                <a:ea typeface="Arial"/>
                <a:cs typeface="Arial"/>
              </a:rPr>
              <a:t>0〜3か月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AA445-D15B-44CE-92FD-7A098292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5287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12件を縫う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835EED-AAC8-41D6-B483-E8C5C97C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10075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E6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E6FF"/>
                </a:solidFill>
                <a:latin typeface="Arial"/>
                <a:ea typeface="Arial"/>
                <a:cs typeface="Arial"/>
              </a:rPr>
              <a:t>時間・修正理由・着用結果を記録。8人以上の継続意向を出口条件にする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D63F0C-5C36-4797-8045-E58C90B1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38500"/>
            <a:ext cx="3000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4D"/>
          </a:solidFill>
          <a:ln xmlns:a="http://schemas.openxmlformats.org/drawingml/2006/main" w="0">
            <a:solidFill>
              <a:srgbClr val="FFD44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F9044-F359-45CB-A8F7-1D2879A3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D4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D44D"/>
                </a:solidFill>
                <a:latin typeface="Arial"/>
                <a:ea typeface="Arial"/>
                <a:cs typeface="Arial"/>
              </a:rPr>
              <a:t>4〜6か月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B8174F-823E-4170-B01B-5EFBEC2F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5287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有償20件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A5B6A-D764-49B0-91DC-48C70ABB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10075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E6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E6FF"/>
                </a:solidFill>
                <a:latin typeface="Arial"/>
                <a:ea typeface="Arial"/>
                <a:cs typeface="Arial"/>
              </a:rPr>
              <a:t>個人向け単発購入で、購入率・問い合わせ・返金理由を確認する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CF93EF-E84E-4052-92B9-CAAB9AEF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38500"/>
            <a:ext cx="3000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4D"/>
          </a:solidFill>
          <a:ln xmlns:a="http://schemas.openxmlformats.org/drawingml/2006/main" w="0">
            <a:solidFill>
              <a:srgbClr val="FFD44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454B17-CC07-47AB-AA28-650A5E1B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718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D4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D44D"/>
                </a:solidFill>
                <a:latin typeface="Arial"/>
                <a:ea typeface="Arial"/>
                <a:cs typeface="Arial"/>
              </a:rPr>
              <a:t>7〜12か月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24162A-BF6B-410F-9D1C-714EB247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95287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継続利用へ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4ED68D-D37B-48E1-A452-E826188F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10075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E6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E6FF"/>
                </a:solidFill>
                <a:latin typeface="Arial"/>
                <a:ea typeface="Arial"/>
                <a:cs typeface="Arial"/>
              </a:rPr>
              <a:t>受注制作者・教育工房へ広げ、月15.4万円の仮説を実績で更新する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5C3A4F-00DD-4403-A5FD-9B676D66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D4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D44D"/>
                </a:solidFill>
                <a:latin typeface="Arial"/>
                <a:ea typeface="Arial"/>
                <a:cs typeface="Arial"/>
              </a:rPr>
              <a:t>将来：試作データが増えるほど、衣装構造ごとの補正提案が具体的になる。</a:t>
            </a:r>
          </a:p>
        </p:txBody>
      </p:sp>
    </p:spTree>
    <p:extLst>
      <p:ext uri="{BB962C8B-B14F-4D97-AF65-F5344CB8AC3E}">
        <p14:creationId xmlns:p14="http://schemas.microsoft.com/office/powerpoint/2010/main" val="6376196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C8A699-17A4-42C8-B888-C747FF5C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60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0D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2FFEF-FB85-43C9-9B72-AC0A881D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60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60D4"/>
                </a:solidFill>
                <a:latin typeface="Arial"/>
                <a:ea typeface="Arial"/>
                <a:cs typeface="Arial"/>
              </a:rPr>
              <a:t>TEAM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8EB63-816F-4893-8533-A6FF4D66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声を、その週の改善へ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5BC3DF-E3F7-487F-8A64-26DB6E46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4D"/>
          </a:solidFill>
          <a:ln xmlns:a="http://schemas.openxmlformats.org/drawingml/2006/main" w="0">
            <a:solidFill>
              <a:srgbClr val="FFD44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11B78E-D884-400E-AB18-7D32E5E3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企画・開発・デザインが同じ5人の中にある。利用者の声を仕様へ翻訳し、画面と型紙を短い周期で直せる体制。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8FB99-B692-4684-9C51-49203A52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3048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CEA59-C8E0-4DD7-BC94-B200BCC1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2897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兼本 集久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8E74B-EE7C-4446-A001-7C525E4C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60D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60D4"/>
                </a:solidFill>
                <a:latin typeface="Arial"/>
                <a:ea typeface="Arial"/>
                <a:cs typeface="Arial"/>
              </a:rPr>
              <a:t>企画・開発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F0CD84-7EFD-4BAF-8E73-848C0384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0375"/>
            <a:ext cx="3048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DFE9FA"/>
          </a:solidFill>
          <a:ln xmlns:a="http://schemas.openxmlformats.org/drawingml/2006/main" w="0">
            <a:solidFill>
              <a:srgbClr val="DFE9F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0387FF-1073-4E84-B533-A76E52B3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2897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仲村 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AD822C-0B0E-4F40-BEBF-AD04D284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6712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60D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60D4"/>
                </a:solidFill>
                <a:latin typeface="Arial"/>
                <a:ea typeface="Arial"/>
                <a:cs typeface="Arial"/>
              </a:rPr>
              <a:t>開発・デザイン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7EA0E4-6BE7-417C-8E64-B1724718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0375"/>
            <a:ext cx="3048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D9641D-7279-4285-90FF-8ED86413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2897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池宮城 奏良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6B0635-E221-4879-986A-0224F414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6712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60D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60D4"/>
                </a:solidFill>
                <a:latin typeface="Arial"/>
                <a:ea typeface="Arial"/>
                <a:cs typeface="Arial"/>
              </a:rPr>
              <a:t>開発・デザイン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C9B73E-0FAB-4592-83A4-18CAA107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572000"/>
            <a:ext cx="3048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4387C1-FDBF-46F6-B2B2-CBF7CD2D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006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屋宜 元晃紗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1EB825-5556-4B53-8F6E-6CF7B7C0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38750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60D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60D4"/>
                </a:solidFill>
                <a:latin typeface="Arial"/>
                <a:ea typeface="Arial"/>
                <a:cs typeface="Arial"/>
              </a:rPr>
              <a:t>開発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137457-3BC7-4634-A2B2-57691685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72000"/>
            <a:ext cx="3048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087354-B900-484F-B5CE-48D28102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006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西村 隼汰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C837EF-5D70-401B-A134-B6C80FBB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38750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60D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60D4"/>
                </a:solidFill>
                <a:latin typeface="Arial"/>
                <a:ea typeface="Arial"/>
                <a:cs typeface="Arial"/>
              </a:rPr>
              <a:t>開発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820C15-A310-4AC3-A9C4-18F1B2EE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28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4D"/>
          </a:solidFill>
          <a:ln xmlns:a="http://schemas.openxmlformats.org/drawingml/2006/main" w="0">
            <a:solidFill>
              <a:srgbClr val="FFD44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BEBD40-420D-4A8F-9EA6-984529F6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5人全員で試作結果を共有。企画・UI・型紙ロジックを同じ週に更新する。</a:t>
            </a:r>
          </a:p>
        </p:txBody>
      </p:sp>
    </p:spTree>
    <p:extLst>
      <p:ext uri="{BB962C8B-B14F-4D97-AF65-F5344CB8AC3E}">
        <p14:creationId xmlns:p14="http://schemas.microsoft.com/office/powerpoint/2010/main" val="12262404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D4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B2D1A8-B115-4BDD-BC17-DE950C9E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Forma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DD4C5-AE9D-447A-81E0-E7D3D187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次の90日で、12着を縫う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9BD65-4320-439E-B5E1-54C202D9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F213E"/>
                </a:solidFill>
                <a:latin typeface="Arial"/>
                <a:ea typeface="Arial"/>
                <a:cs typeface="Arial"/>
              </a:rPr>
              <a:t>動く試作品を、着用できる型紙へ進める。大会後すぐに沖縄で小規模パイロットを始める。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3E02E-D59D-457F-A9C1-8A44D11F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60D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60D4"/>
                </a:solidFill>
                <a:latin typeface="Arial"/>
                <a:ea typeface="Arial"/>
                <a:cs typeface="Arial"/>
              </a:rPr>
              <a:t>協力者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DAA5D-2FEC-4BA4-BDB1-57322C2A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314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沖縄の衣装制作者 12人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3680C-FEBE-4F72-8367-932B66B2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60D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60D4"/>
                </a:solidFill>
                <a:latin typeface="Arial"/>
                <a:ea typeface="Arial"/>
                <a:cs typeface="Arial"/>
              </a:rPr>
              <a:t>記録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B0B94-20A6-4B12-841D-A6C31AE4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9814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作業時間・修正理由・着用結果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45B303-9184-4CDE-96C0-47E2B0A6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60D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60D4"/>
                </a:solidFill>
                <a:latin typeface="Arial"/>
                <a:ea typeface="Arial"/>
                <a:cs typeface="Arial"/>
              </a:rPr>
              <a:t>判定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F2DFD0-6D54-4273-A47E-5787B2A1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時間25％短縮、修正1回削減、8人以上の継続意向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D077A-595B-4888-9DBC-6C63D721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876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13E"/>
          </a:solidFill>
          <a:ln xmlns:a="http://schemas.openxmlformats.org/drawingml/2006/main" w="0">
            <a:solidFill>
              <a:srgbClr val="0F213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5DFB5B-651E-4475-A571-6B89729E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型紙技術の有無で、つくることを諦めない。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9E7FDA-FA66-4714-ADAF-9580719D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213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213E"/>
                </a:solidFill>
                <a:latin typeface="Arial"/>
                <a:ea typeface="Arial"/>
                <a:cs typeface="Arial"/>
              </a:rPr>
              <a:t>沖縄工業高等専門学校　Forma</a:t>
            </a:r>
          </a:p>
        </p:txBody>
      </p:sp>
    </p:spTree>
    <p:extLst>
      <p:ext uri="{BB962C8B-B14F-4D97-AF65-F5344CB8AC3E}">
        <p14:creationId xmlns:p14="http://schemas.microsoft.com/office/powerpoint/2010/main" val="19257208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2026-09-27T03:32:09.3340000Z</dcterms:created>
  <dcterms:modified xsi:type="dcterms:W3CDTF">2026-09-27T03:32:09.3340000Z</dcterms:modified>
</coreProperties>
</file>